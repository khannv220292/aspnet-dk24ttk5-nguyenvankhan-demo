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5D8F0"/>
                </a:solidFill>
              </a:defRPr>
            </a:pPr>
            <a:r>
              <a:t>TRƯỜNG ĐẠI HỌC TRÀ VINH  •  CHUYÊN ĐỀ ASP.NET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Xây dựng website bán laptop</a:t>
            </a:r>
          </a:p>
          <a:p>
            <a:pPr>
              <a:defRPr sz="2000">
                <a:solidFill>
                  <a:srgbClr val="D0E4F8"/>
                </a:solidFill>
              </a:defRPr>
            </a:pPr>
            <a:r>
              <a:t>laptop.khannv.vn  —  ASP.NET MVC 5, Entity Framework 6, SQL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Sinh viên: Nguyễn Văn Khan    MSSV: 170124589    Lớp: DK24TTK5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Giảng viên hướng dẫn: TS. Nguyễn Nhứt Lam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Demo: http://localhost:51494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78"/>
                </a:solidFill>
                <a:latin typeface="Calibri"/>
              </a:defRPr>
            </a:pPr>
            <a:r>
              <a:t>1. Đề tài và 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Đề tài: website thương mại điện tử bán laptop (thương hiệu laptop.khannv.vn).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Khách hàng: xem catalog, tìm kiếm gần đúng (LINQ Contains), giỏ Session, đặt hàng COD/MoMo.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Quản trị: đăng nhập Admin, CRUD sản phẩm/danh mục, duyệt đơn, thống kê Productnotsold.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Công nghệ: ASP.NET MVC 5, .NET Framework 4.8, EF6 (EDMX), SQL Server catalog laptopstore.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Môi trường demo: Visual Studio, IIS Express cổng 51494.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Nguyễn Văn Khan  |  DK24TTK5  |  Chuyên đề ASP.NET  |  laptop.khannv.vn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543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78"/>
                </a:solidFill>
                <a:latin typeface="Calibri"/>
              </a:defRPr>
            </a:pPr>
            <a:r>
              <a:t>2. Mô hình ASP.NET MVC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2377440"/>
          </a:xfrm>
          <a:prstGeom prst="roundRect">
            <a:avLst/>
          </a:prstGeom>
          <a:solidFill>
            <a:srgbClr val="F4F7FB"/>
          </a:solidFill>
          <a:ln>
            <a:solidFill>
              <a:srgbClr val="0B69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154378"/>
                </a:solidFill>
              </a:defRPr>
            </a:pPr>
            <a:r>
              <a:t>Model</a:t>
            </a:r>
          </a:p>
          <a:p>
            <a:pPr algn="ctr">
              <a:defRPr sz="1600">
                <a:solidFill>
                  <a:srgbClr val="222222"/>
                </a:solidFill>
              </a:defRPr>
            </a:pPr>
            <a:r>
              <a:t>Item, Customer, Order</a:t>
            </a:r>
            <a:br/>
            <a:r>
              <a:t>ProTechTiveGearEntities</a:t>
            </a:r>
            <a:br/>
            <a:r>
              <a:t>(EF6 → SQL)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474720" cy="2377440"/>
          </a:xfrm>
          <a:prstGeom prst="roundRect">
            <a:avLst/>
          </a:prstGeom>
          <a:solidFill>
            <a:srgbClr val="F4F7FB"/>
          </a:solidFill>
          <a:ln>
            <a:solidFill>
              <a:srgbClr val="0B69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154378"/>
                </a:solidFill>
              </a:defRPr>
            </a:pPr>
            <a:r>
              <a:t>View</a:t>
            </a:r>
          </a:p>
          <a:p>
            <a:pPr algn="ctr">
              <a:defRPr sz="1600">
                <a:solidFill>
                  <a:srgbClr val="222222"/>
                </a:solidFill>
              </a:defRPr>
            </a:pPr>
            <a:r>
              <a:t>Razor .cshtml</a:t>
            </a:r>
            <a:br/>
            <a:r>
              <a:t>_LayoutHomePage</a:t>
            </a:r>
            <a:br/>
            <a:r>
              <a:t>_LayoutAdmin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3474720" cy="2377440"/>
          </a:xfrm>
          <a:prstGeom prst="roundRect">
            <a:avLst/>
          </a:prstGeom>
          <a:solidFill>
            <a:srgbClr val="F4F7FB"/>
          </a:solidFill>
          <a:ln>
            <a:solidFill>
              <a:srgbClr val="0B69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154378"/>
                </a:solidFill>
              </a:defRPr>
            </a:pPr>
            <a:r>
              <a:t>Controller</a:t>
            </a:r>
          </a:p>
          <a:p>
            <a:pPr algn="ctr">
              <a:defRPr sz="1600">
                <a:solidFill>
                  <a:srgbClr val="222222"/>
                </a:solidFill>
              </a:defRPr>
            </a:pPr>
            <a:r>
              <a:t>Shop, Cart, Login</a:t>
            </a:r>
            <a:br/>
            <a:r>
              <a:t>Admin, Items</a:t>
            </a:r>
            <a:br/>
            <a:r>
              <a:t>ActionResult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Request: trình duyệt → IIS Express → RouteConfig {controller}/{action}/{id}.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Mặc định: ShopController.Index (URL cũ /AuraStore vẫn nhận, không sinh link).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Session["usr"] khách, Session["Account"] admin, Session["Cart"] giỏ hàng.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Nguyễn Văn Khan  |  DK24TTK5  |  Chuyên đề ASP.NET  |  laptop.khannv.vn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543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78"/>
                </a:solidFill>
                <a:latin typeface="Calibri"/>
              </a:defRPr>
            </a:pPr>
            <a:r>
              <a:t>3. Cơ sở dữ liệu SQL Server — catalog laptopstore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Tên CSDL: laptopstore (Web.config: Initial Catalog=laptopstore).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Bảng chính: Admin, Customer, Menu (hãng), ItemType, Brand, Item, Order, OrderDetail, Payment, Banner, Blog.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Quan hệ: Item thuộc Menu/ItemType; Order gắn Customer; OrderDetail gắn Item và Order.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Script: Database/database.sql, seed_laptop.sql — import SSMS trước khi F5.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ORM: Entity Framework 6, Gear.edmx, DbContext ProTechTiveGearEntities.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Nguyễn Văn Khan  |  DK24TTK5  |  Chuyên đề ASP.NET  |  laptop.khannv.vn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543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78"/>
                </a:solidFill>
                <a:latin typeface="Calibri"/>
              </a:defRPr>
            </a:pPr>
            <a:r>
              <a:t>4. Chức năng phía khách hàng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Trang chủ: banner, hãng nổi bật, sản phẩm mới, menu Lenovo / Dell / HP / ASUS…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Tìm kiếm: Name, ShortTitle, Describe, loại, hãng — Contains → SQL LIKE.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Chi tiết laptop, thêm giỏ (kiểm tra tồn kho), sửa/xóa giỏ.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Đặt hàng: COD hoặc MoMo; cho phép khách vãng lai (guest theo SĐT).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Đăng ký / đăng nhập / đổi mật khẩu (hash Encryption); theo dõi và hủy đơn.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Nguyễn Văn Khan  |  DK24TTK5  |  Chuyên đề ASP.NET  |  laptop.khannv.vn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543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78"/>
                </a:solidFill>
                <a:latin typeface="Calibri"/>
              </a:defRPr>
            </a:pPr>
            <a:r>
              <a:t>5. Chức năng phía quản trị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Đăng nhập: Username Admin  /  mật khẩu admin  → AllListOrder.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CRUD Items, ItemType, Menu (hãng), Banner, Customer, Blog.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Đơn hàng: tab tất cả / chưa xử lý / chưa thanh toán; xác nhận, xóa đơn.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FeaturedBrand: chọn hãng nổi bật trên trang chủ.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Báo cáo Productnotsold: laptop phục vụ tiêu chí thống kê học phần.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Nguyễn Văn Khan  |  DK24TTK5  |  Chuyên đề ASP.NET  |  laptop.khannv.vn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543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78"/>
                </a:solidFill>
                <a:latin typeface="Calibri"/>
              </a:defRPr>
            </a:pPr>
            <a:r>
              <a:t>6. Giao diện trang chủ (demo)</a:t>
            </a:r>
          </a:p>
        </p:txBody>
      </p:sp>
      <p:pic>
        <p:nvPicPr>
          <p:cNvPr id="4" name="Picture 3" descr="Hinh18_GiaoDienTrangC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51560"/>
            <a:ext cx="9601200" cy="50986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Nguyễn Văn Khan  |  DK24TTK5  |  Chuyên đề ASP.NET  |  laptop.khannv.vn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543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78"/>
                </a:solidFill>
                <a:latin typeface="Calibri"/>
              </a:defRPr>
            </a:pPr>
            <a:r>
              <a:t>7. Tìm kiếm Contains và chi tiết sản phẩm</a:t>
            </a:r>
          </a:p>
        </p:txBody>
      </p:sp>
      <p:pic>
        <p:nvPicPr>
          <p:cNvPr id="4" name="Picture 3" descr="HinhD2_timkiem_chiti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960120"/>
            <a:ext cx="4634182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Nguyễn Văn Khan  |  DK24TTK5  |  Chuyên đề ASP.NET  |  laptop.khannv.vn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543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78"/>
                </a:solidFill>
                <a:latin typeface="Calibri"/>
              </a:defRPr>
            </a:pPr>
            <a:r>
              <a:t>8. Giao diện quản trị — danh sách đơn hàng</a:t>
            </a:r>
          </a:p>
        </p:txBody>
      </p:sp>
      <p:pic>
        <p:nvPicPr>
          <p:cNvPr id="4" name="Picture 3" descr="Hinh19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51560"/>
            <a:ext cx="9966960" cy="55108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Nguyễn Văn Khan  |  DK24TTK5  |  Chuyên đề ASP.NET  |  laptop.khannv.vn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543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78"/>
                </a:solidFill>
                <a:latin typeface="Calibri"/>
              </a:defRPr>
            </a:pPr>
            <a:r>
              <a:t>9. Kết luận và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Đã hoàn thành website bán laptop trên ASP.NET MVC 5 + SQL Server laptopstore.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Đáp ứng luồng bán hàng, CRUD quản trị, tìm kiếm tương đối, báo cáo Productnotsold.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Hạn chế: cổng thanh toán ngân hàng thật, ASP.NET Identity đầy đủ, chưa lên ASP.NET Core.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Hướng mở: lọc cấu hình, phân trang, HTTPS, Identity, báo cáo doanh thu theo ngày.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GitHub: github.com/khannv220292/ASPNET-DK24TTK5-NGUYENVANKHAN-DEMO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Demo tài khoản Admin / admin  •  F5 → http://localhost:51494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6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Nguyễn Văn Khan  |  DK24TTK5  |  Chuyên đề ASP.NET  |  laptop.khannv.vn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543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Xin cảm ơn quý thầy cô</a:t>
            </a:r>
          </a:p>
          <a:p>
            <a:pPr algn="ctr">
              <a:defRPr sz="2000">
                <a:solidFill>
                  <a:srgbClr val="C5D8F0"/>
                </a:solidFill>
              </a:defRPr>
            </a:pPr>
            <a:r>
              <a:t>Sẵn sàng demo website và trả lời câu hỏi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